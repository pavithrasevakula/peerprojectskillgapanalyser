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F11F896-80D1-A4CE-0824-6BB3288CD878}">
          <p14:sldIdLst>
            <p14:sldId id="256"/>
          </p14:sldIdLst>
        </p14:section>
        <p14:section name="Problem" id="{BDA12BF4-E924-E39B-6535-3DB61280691F}">
          <p14:sldIdLst>
            <p14:sldId id="257"/>
            <p14:sldId id="258"/>
          </p14:sldIdLst>
        </p14:section>
        <p14:section name="Solution" id="{8108F6C7-707D-CADF-1097-C31A695C8D48}">
          <p14:sldIdLst>
            <p14:sldId id="259"/>
            <p14:sldId id="260"/>
            <p14:sldId id="261"/>
            <p14:sldId id="262"/>
          </p14:sldIdLst>
        </p14:section>
        <p14:section name="Demo and Results" id="{8D9D7022-E566-CFC5-382B-3E11911D26DB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Match 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41"/>
              </a:solidFill>
              <a:ln w="25400" cap="flat">
                <a:solidFill>
                  <a:srgbClr val="F1F4F7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9255-4556-8D3E-0BEA28234A7B}"/>
              </c:ext>
            </c:extLst>
          </c:dPt>
          <c:dPt>
            <c:idx val="1"/>
            <c:bubble3D val="0"/>
            <c:spPr>
              <a:solidFill>
                <a:srgbClr val="2F7F86"/>
              </a:solidFill>
              <a:ln w="25400" cap="flat">
                <a:solidFill>
                  <a:srgbClr val="F1F4F7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9255-4556-8D3E-0BEA28234A7B}"/>
              </c:ext>
            </c:extLst>
          </c:dPt>
          <c:dPt>
            <c:idx val="2"/>
            <c:bubble3D val="0"/>
            <c:spPr>
              <a:solidFill>
                <a:srgbClr val="5B6B7F"/>
              </a:solidFill>
              <a:ln w="25400" cap="flat">
                <a:solidFill>
                  <a:srgbClr val="F1F4F7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9255-4556-8D3E-0BEA28234A7B}"/>
              </c:ext>
            </c:extLst>
          </c:dPt>
          <c:dPt>
            <c:idx val="3"/>
            <c:bubble3D val="0"/>
            <c:spPr>
              <a:solidFill>
                <a:srgbClr val="9CC5C9"/>
              </a:solidFill>
              <a:ln w="25400" cap="flat">
                <a:solidFill>
                  <a:srgbClr val="F1F4F7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9255-4556-8D3E-0BEA28234A7B}"/>
              </c:ext>
            </c:extLst>
          </c:dPt>
          <c:cat>
            <c:strRef>
              <c:f>Sheet1!$A$2:$A$5</c:f>
              <c:strCache>
                <c:ptCount val="4"/>
                <c:pt idx="0">
                  <c:v>Marginal skill gain</c:v>
                </c:pt>
                <c:pt idx="1">
                  <c:v>Role compatibility</c:v>
                </c:pt>
                <c:pt idx="2">
                  <c:v>Availability overlap</c:v>
                </c:pt>
                <c:pt idx="3">
                  <c:v>Experience diversity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255-4556-8D3E-0BEA28234A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Team Building Index (TBI)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41"/>
              </a:solidFill>
              <a:ln w="25400" cap="flat">
                <a:solidFill>
                  <a:srgbClr val="F1F4F7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DB8-41FE-BA2A-3453533FE59B}"/>
              </c:ext>
            </c:extLst>
          </c:dPt>
          <c:dPt>
            <c:idx val="1"/>
            <c:bubble3D val="0"/>
            <c:spPr>
              <a:solidFill>
                <a:srgbClr val="2F7F86"/>
              </a:solidFill>
              <a:ln w="25400" cap="flat">
                <a:solidFill>
                  <a:srgbClr val="F1F4F7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8DB8-41FE-BA2A-3453533FE59B}"/>
              </c:ext>
            </c:extLst>
          </c:dPt>
          <c:dPt>
            <c:idx val="2"/>
            <c:bubble3D val="0"/>
            <c:spPr>
              <a:solidFill>
                <a:srgbClr val="5B6B7F"/>
              </a:solidFill>
              <a:ln w="25400" cap="flat">
                <a:solidFill>
                  <a:srgbClr val="F1F4F7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8DB8-41FE-BA2A-3453533FE59B}"/>
              </c:ext>
            </c:extLst>
          </c:dPt>
          <c:dPt>
            <c:idx val="3"/>
            <c:bubble3D val="0"/>
            <c:spPr>
              <a:solidFill>
                <a:srgbClr val="9CC5C9"/>
              </a:solidFill>
              <a:ln w="25400" cap="flat">
                <a:solidFill>
                  <a:srgbClr val="F1F4F7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8DB8-41FE-BA2A-3453533FE59B}"/>
              </c:ext>
            </c:extLst>
          </c:dPt>
          <c:cat>
            <c:strRef>
              <c:f>Sheet1!$A$2:$A$5</c:f>
              <c:strCache>
                <c:ptCount val="4"/>
                <c:pt idx="0">
                  <c:v>Skill coverage</c:v>
                </c:pt>
                <c:pt idx="1">
                  <c:v>Role diversity</c:v>
                </c:pt>
                <c:pt idx="2">
                  <c:v>Experience mix</c:v>
                </c:pt>
                <c:pt idx="3">
                  <c:v>Availability fit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DB8-41FE-BA2A-3453533FE5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7140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One sentence: this system forms project teams automatically by matching people on complementary skills, using a NoSQL data model on Firebase.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 for slides 2 and 3 together. Establish the pain: forming teams by hand is slow, ignores skill balance, and gives no way to measure compatibility.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gaps in current approaches: static matching, no skill analytics, manual processes, and poor compatibility metrics. Lead into the solution: our system is data-driven.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 minutes for slides 4 and 5. Walk the pipeline left to right: a profile is stored in Firestore, Cloud Functions analyse skills, the scoring algorithm calculates a match score, and recommendations update in real time. Then highlight the three key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layers: React frontend, Node/Express plus Cloud Functions backend, Firestore as the NoSQL database. The frontend talks to the backend over REST; the backend queries Firestore. Cloud Functions also handle triggers for real-time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1.5 minutes. This is the most technical slide. Match Score ranks one candidate against a team: 55% marginal skill gain (how many missing skills they add), 20% role compatibility, 15% availability overlap, 10% experience diversity. The Team Building Index rates the whole team: 40% skill coverage, 25% role diversity, 15% experience mix, 20% availability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 Three structures: users and projects are top-level collections; applications are a subcollection under each project, which keeps all applicants for a project together and makes a single project query cheap. ownerUID links a project to its owner; userUID links an application to the applicant. The stats at the bottom describe the generated test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 minutes. Switch to the live app if possible: sign in, show a profile and skill radar, open a project and show recommendations with match scores, then open the application dashboard. Replace the demo URL on this slide with your real Firebase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outcomes: a populated dataset, 57 implemented queries, real-time triggers and Cloud Functions. End on the quote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371600"/>
            <a:ext cx="62179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kern="0" spc="2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828800"/>
            <a:ext cx="621792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069080"/>
            <a:ext cx="6217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731520" y="5760720"/>
            <a:ext cx="62179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</a:rPr>
              <a:t>Peer Project Team Matcher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C5C9"/>
                </a:solidFill>
              </a:rPr>
              <a:t>Peer Project Team Matcher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5C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371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M.TECH DATA MODELLING PROJECT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82880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 Project Team Formation &amp; Skill-Gap Matcher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0690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Sevakula Pavithra (26MAI0049)</a:t>
            </a:r>
          </a:p>
          <a:p>
            <a:pPr marL="342900" indent="-34290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Duggu Sujana (26MAI0056)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731520" y="57607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Firebase + React implementation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B4F11E-E635-7668-6CAF-EA7F026C4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372" y="706211"/>
            <a:ext cx="3630385" cy="54455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hallenge 1 circle"/>
          <p:cNvSpPr/>
          <p:nvPr/>
        </p:nvSpPr>
        <p:spPr>
          <a:xfrm>
            <a:off x="640080" y="16002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Challenge 1 icon" descr="Challen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1822399"/>
            <a:ext cx="378562" cy="37856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184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Slow, manual team formation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1737360" y="20756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coordinators spend days sorting profiles by hand.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hallenge 2 circle"/>
          <p:cNvSpPr/>
          <p:nvPr/>
        </p:nvSpPr>
        <p:spPr>
          <a:xfrm>
            <a:off x="640080" y="3063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Challenge 2 icon" descr="Challen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3285439"/>
            <a:ext cx="378562" cy="37856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30815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mismatches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1737360" y="35387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Teams overlap on some skills and leave critical gaps uncovered.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hallenge 3 circle"/>
          <p:cNvSpPr/>
          <p:nvPr/>
        </p:nvSpPr>
        <p:spPr>
          <a:xfrm>
            <a:off x="640080" y="45262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Challenge 3 icon" descr="Challen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" y="4748479"/>
            <a:ext cx="378562" cy="37856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37360" y="45445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compatibility insight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1737360" y="500176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no way to judge how well a team fits before it starts.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C112E1F-18CF-D2D5-500F-5742E71424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7228" y="568779"/>
            <a:ext cx="3728357" cy="55925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Existing Solutions Miss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ap card 1"/>
          <p:cNvSpPr/>
          <p:nvPr/>
        </p:nvSpPr>
        <p:spPr>
          <a:xfrm>
            <a:off x="640080" y="1554480"/>
            <a:ext cx="2514600" cy="32004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Gap 1 circle"/>
          <p:cNvSpPr/>
          <p:nvPr/>
        </p:nvSpPr>
        <p:spPr>
          <a:xfrm>
            <a:off x="914400" y="18745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Gap 1 icon" descr="Ga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99" y="2096719"/>
            <a:ext cx="378562" cy="3785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880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matching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14400" y="36118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keyword filters that ignore what a team is actually missing.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ap card 2"/>
          <p:cNvSpPr/>
          <p:nvPr/>
        </p:nvSpPr>
        <p:spPr>
          <a:xfrm>
            <a:off x="3429000" y="1554480"/>
            <a:ext cx="2514600" cy="32004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Gap 2 circle"/>
          <p:cNvSpPr/>
          <p:nvPr/>
        </p:nvSpPr>
        <p:spPr>
          <a:xfrm>
            <a:off x="3703320" y="18745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Gap 2 icon" descr="Gap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519" y="2096719"/>
            <a:ext cx="378562" cy="37856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03320" y="2880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skill analytics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3703320" y="36118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gaps are never measured or visualised.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Gap card 3"/>
          <p:cNvSpPr/>
          <p:nvPr/>
        </p:nvSpPr>
        <p:spPr>
          <a:xfrm>
            <a:off x="6217920" y="1554480"/>
            <a:ext cx="2514600" cy="32004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Gap 3 circle"/>
          <p:cNvSpPr/>
          <p:nvPr/>
        </p:nvSpPr>
        <p:spPr>
          <a:xfrm>
            <a:off x="6492240" y="18745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Gap 3 icon" descr="Gap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4439" y="2096719"/>
            <a:ext cx="378562" cy="37856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2880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6492240" y="36118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Teams are assigned through spreadsheets and chat threads.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Gap card 4"/>
          <p:cNvSpPr/>
          <p:nvPr/>
        </p:nvSpPr>
        <p:spPr>
          <a:xfrm>
            <a:off x="9006840" y="1554480"/>
            <a:ext cx="2514600" cy="32004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Gap 4 circle"/>
          <p:cNvSpPr/>
          <p:nvPr/>
        </p:nvSpPr>
        <p:spPr>
          <a:xfrm>
            <a:off x="9281160" y="18745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Gap 4 icon" descr="Gap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3359" y="2096719"/>
            <a:ext cx="378562" cy="37856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81160" y="2880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 team-fit metrics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9281160" y="36118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Roles, experience and availability are not considered.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Gap banner"/>
          <p:cNvSpPr/>
          <p:nvPr/>
        </p:nvSpPr>
        <p:spPr>
          <a:xfrm>
            <a:off x="640080" y="5120640"/>
            <a:ext cx="10881360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lack intelligent, data-driven team recommendations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Smart Team Matching Engine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tep card 1"/>
          <p:cNvSpPr/>
          <p:nvPr/>
        </p:nvSpPr>
        <p:spPr>
          <a:xfrm>
            <a:off x="640080" y="1508760"/>
            <a:ext cx="237744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number 1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profile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Firebase Firestore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tep arrow 1"/>
          <p:cNvSpPr/>
          <p:nvPr/>
        </p:nvSpPr>
        <p:spPr>
          <a:xfrm>
            <a:off x="3081528" y="2331720"/>
            <a:ext cx="329184" cy="32004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ep card 2"/>
          <p:cNvSpPr/>
          <p:nvPr/>
        </p:nvSpPr>
        <p:spPr>
          <a:xfrm>
            <a:off x="3474720" y="1508760"/>
            <a:ext cx="237744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number 2"/>
          <p:cNvSpPr/>
          <p:nvPr/>
        </p:nvSpPr>
        <p:spPr>
          <a:xfrm>
            <a:off x="370332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33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703320" y="2286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703320" y="3017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Functions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tep arrow 2"/>
          <p:cNvSpPr/>
          <p:nvPr/>
        </p:nvSpPr>
        <p:spPr>
          <a:xfrm>
            <a:off x="5916168" y="2331720"/>
            <a:ext cx="329184" cy="32004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tep card 3"/>
          <p:cNvSpPr/>
          <p:nvPr/>
        </p:nvSpPr>
        <p:spPr>
          <a:xfrm>
            <a:off x="6309360" y="1508760"/>
            <a:ext cx="237744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number 3"/>
          <p:cNvSpPr/>
          <p:nvPr/>
        </p:nvSpPr>
        <p:spPr>
          <a:xfrm>
            <a:off x="653796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537960" y="2286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 score calculation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537960" y="3017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Scoring algorithm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tep arrow 3"/>
          <p:cNvSpPr/>
          <p:nvPr/>
        </p:nvSpPr>
        <p:spPr>
          <a:xfrm>
            <a:off x="8750808" y="2331720"/>
            <a:ext cx="329184" cy="32004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tep card 4"/>
          <p:cNvSpPr/>
          <p:nvPr/>
        </p:nvSpPr>
        <p:spPr>
          <a:xfrm>
            <a:off x="9144000" y="1508760"/>
            <a:ext cx="237744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ep number 4"/>
          <p:cNvSpPr/>
          <p:nvPr/>
        </p:nvSpPr>
        <p:spPr>
          <a:xfrm>
            <a:off x="937260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726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9372600" y="2286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recommendations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9372600" y="3017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eature card 1"/>
          <p:cNvSpPr/>
          <p:nvPr/>
        </p:nvSpPr>
        <p:spPr>
          <a:xfrm>
            <a:off x="640080" y="3840480"/>
            <a:ext cx="3447288" cy="214884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Feature 1 circle"/>
          <p:cNvSpPr/>
          <p:nvPr/>
        </p:nvSpPr>
        <p:spPr>
          <a:xfrm>
            <a:off x="914400" y="4069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Feature 1 icon" descr="Fea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77" y="4229557"/>
            <a:ext cx="273406" cy="273406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691640" y="4069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Complementarity scoring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914400" y="4846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Recommends people who fill the skills a team is missing, not ones who duplicate them.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Feature card 2"/>
          <p:cNvSpPr/>
          <p:nvPr/>
        </p:nvSpPr>
        <p:spPr>
          <a:xfrm>
            <a:off x="4361688" y="3840480"/>
            <a:ext cx="3447288" cy="214884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Feature 2 circle"/>
          <p:cNvSpPr/>
          <p:nvPr/>
        </p:nvSpPr>
        <p:spPr>
          <a:xfrm>
            <a:off x="4636008" y="4069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Feature 2 icon" descr="Fea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485" y="4229557"/>
            <a:ext cx="273406" cy="273406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5413248" y="4069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1"/>
          <p:cNvSpPr txBox="1"/>
          <p:nvPr/>
        </p:nvSpPr>
        <p:spPr>
          <a:xfrm>
            <a:off x="4636008" y="4846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team compatibility index refreshes automatically as the team changes.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Feature card 3"/>
          <p:cNvSpPr/>
          <p:nvPr/>
        </p:nvSpPr>
        <p:spPr>
          <a:xfrm>
            <a:off x="8083296" y="3840480"/>
            <a:ext cx="3447288" cy="214884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7" name="Feature 3 circle"/>
          <p:cNvSpPr/>
          <p:nvPr/>
        </p:nvSpPr>
        <p:spPr>
          <a:xfrm>
            <a:off x="8357616" y="4069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Feature 3 icon" descr="Fea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8093" y="4229557"/>
            <a:ext cx="273406" cy="273406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9134856" y="4069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Skill-gap analytics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5"/>
          <p:cNvSpPr txBox="1"/>
          <p:nvPr/>
        </p:nvSpPr>
        <p:spPr>
          <a:xfrm>
            <a:off x="8357616" y="4846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Radar charts compare team skill coverage against project requirements.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&amp; Technologies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rontend layer"/>
          <p:cNvSpPr/>
          <p:nvPr/>
        </p:nvSpPr>
        <p:spPr>
          <a:xfrm>
            <a:off x="640080" y="1508760"/>
            <a:ext cx="7040880" cy="1188720"/>
          </a:xfrm>
          <a:prstGeom prst="roundRect">
            <a:avLst>
              <a:gd name="adj" fmla="val 7692"/>
            </a:avLst>
          </a:prstGeom>
          <a:solidFill>
            <a:srgbClr val="D6E6E8"/>
          </a:solidFill>
          <a:ln w="12700">
            <a:solidFill>
              <a:srgbClr val="D6E6E8"/>
            </a:solidFill>
            <a:prstDash val="solid"/>
          </a:ln>
        </p:spPr>
      </p:sp>
      <p:sp>
        <p:nvSpPr>
          <p:cNvPr id="4" name="Frontend layer circle"/>
          <p:cNvSpPr/>
          <p:nvPr/>
        </p:nvSpPr>
        <p:spPr>
          <a:xfrm>
            <a:off x="91440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Frontend layer icon" descr="Frontend lay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22" y="195590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45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layer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828800" y="20116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+ Vite + Material-UI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828800" y="23317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Dashboard, skill radar and recommendations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Backend layer"/>
          <p:cNvSpPr/>
          <p:nvPr/>
        </p:nvSpPr>
        <p:spPr>
          <a:xfrm>
            <a:off x="640080" y="3108960"/>
            <a:ext cx="704088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ckend layer circle"/>
          <p:cNvSpPr/>
          <p:nvPr/>
        </p:nvSpPr>
        <p:spPr>
          <a:xfrm>
            <a:off x="914400" y="33832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Backend layer icon" descr="Backend lay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222" y="355610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28800" y="3246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layer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1828800" y="3611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+ Express + Cloud Functions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1828800" y="3931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 scoring, TBI calculation and triggers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Database layer"/>
          <p:cNvSpPr/>
          <p:nvPr/>
        </p:nvSpPr>
        <p:spPr>
          <a:xfrm>
            <a:off x="640080" y="4709160"/>
            <a:ext cx="704088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Database layer circle"/>
          <p:cNvSpPr/>
          <p:nvPr/>
        </p:nvSpPr>
        <p:spPr>
          <a:xfrm>
            <a:off x="914400" y="4983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Database layer icon" descr="Database lay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222" y="5156302"/>
            <a:ext cx="294437" cy="29443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828800" y="4846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layer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1828800" y="5212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Firebase Firestore (NoSQL)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1828800" y="5532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Collections: users, projects  |  Subcollection: applications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Connector arrow 1"/>
          <p:cNvSpPr/>
          <p:nvPr/>
        </p:nvSpPr>
        <p:spPr>
          <a:xfrm>
            <a:off x="3383280" y="2724912"/>
            <a:ext cx="274320" cy="356616"/>
          </a:xfrm>
          <a:prstGeom prst="up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79476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onnector arrow 2"/>
          <p:cNvSpPr/>
          <p:nvPr/>
        </p:nvSpPr>
        <p:spPr>
          <a:xfrm>
            <a:off x="3383280" y="4325112"/>
            <a:ext cx="274320" cy="356616"/>
          </a:xfrm>
          <a:prstGeom prst="up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794760" y="4297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chnologies panel"/>
          <p:cNvSpPr/>
          <p:nvPr/>
        </p:nvSpPr>
        <p:spPr>
          <a:xfrm>
            <a:off x="8046720" y="1508760"/>
            <a:ext cx="3474720" cy="438912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32104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2"/>
          <p:cNvSpPr txBox="1"/>
          <p:nvPr/>
        </p:nvSpPr>
        <p:spPr>
          <a:xfrm>
            <a:off x="832104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3"/>
          <p:cNvSpPr txBox="1"/>
          <p:nvPr/>
        </p:nvSpPr>
        <p:spPr>
          <a:xfrm>
            <a:off x="8321040" y="27249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Auth, Firestore, Cloud Functions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832104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5"/>
          <p:cNvSpPr txBox="1"/>
          <p:nvPr/>
        </p:nvSpPr>
        <p:spPr>
          <a:xfrm>
            <a:off x="8321040" y="3593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framework, built with Vite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832104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8321040" y="44622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runtime with Express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8321040" y="4983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Material-UI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8321040" y="5330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system and components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Scoring Model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tch Score card"/>
          <p:cNvSpPr/>
          <p:nvPr/>
        </p:nvSpPr>
        <p:spPr>
          <a:xfrm>
            <a:off x="640080" y="1508760"/>
            <a:ext cx="5303520" cy="3977640"/>
          </a:xfrm>
          <a:prstGeom prst="roundRect">
            <a:avLst>
              <a:gd name="adj" fmla="val 22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 Score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Ranks a candidate for a team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974683211"/>
              </p:ext>
            </p:extLst>
          </p:nvPr>
        </p:nvGraphicFramePr>
        <p:xfrm>
          <a:off x="868680" y="2697480"/>
          <a:ext cx="23774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Match Score centre label"/>
          <p:cNvSpPr txBox="1"/>
          <p:nvPr/>
        </p:nvSpPr>
        <p:spPr>
          <a:xfrm>
            <a:off x="868680" y="269748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Legend swatch"/>
          <p:cNvSpPr/>
          <p:nvPr/>
        </p:nvSpPr>
        <p:spPr>
          <a:xfrm>
            <a:off x="3429000" y="2916936"/>
            <a:ext cx="182880" cy="18288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03320" y="27889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4389120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Marginal skill gain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Legend swatch"/>
          <p:cNvSpPr/>
          <p:nvPr/>
        </p:nvSpPr>
        <p:spPr>
          <a:xfrm>
            <a:off x="3429000" y="3520440"/>
            <a:ext cx="182880" cy="182880"/>
          </a:xfrm>
          <a:prstGeom prst="rect">
            <a:avLst/>
          </a:prstGeom>
          <a:solidFill>
            <a:srgbClr val="2F7F86"/>
          </a:solidFill>
          <a:ln w="12700">
            <a:solidFill>
              <a:srgbClr val="2F7F8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03320" y="339242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4389120" y="339242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compatibility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Legend swatch"/>
          <p:cNvSpPr/>
          <p:nvPr/>
        </p:nvSpPr>
        <p:spPr>
          <a:xfrm>
            <a:off x="3429000" y="4123944"/>
            <a:ext cx="182880" cy="182880"/>
          </a:xfrm>
          <a:prstGeom prst="rect">
            <a:avLst/>
          </a:prstGeom>
          <a:solidFill>
            <a:srgbClr val="5B6B7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03320" y="39959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4389120" y="39959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overlap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Legend swatch"/>
          <p:cNvSpPr/>
          <p:nvPr/>
        </p:nvSpPr>
        <p:spPr>
          <a:xfrm>
            <a:off x="3429000" y="4727448"/>
            <a:ext cx="182880" cy="182880"/>
          </a:xfrm>
          <a:prstGeom prst="rect">
            <a:avLst/>
          </a:prstGeom>
          <a:solidFill>
            <a:srgbClr val="9CC5C9"/>
          </a:solidFill>
          <a:ln w="12700">
            <a:solidFill>
              <a:srgbClr val="9CC5C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03320" y="459943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4389120" y="45994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 diversity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am Building Index (TBI) card"/>
          <p:cNvSpPr/>
          <p:nvPr/>
        </p:nvSpPr>
        <p:spPr>
          <a:xfrm>
            <a:off x="6217920" y="1508760"/>
            <a:ext cx="5303520" cy="3977640"/>
          </a:xfrm>
          <a:prstGeom prst="roundRect">
            <a:avLst>
              <a:gd name="adj" fmla="val 22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Building Index (TBI)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649224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Rates the whole team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Chart 1"/>
          <p:cNvGraphicFramePr/>
          <p:nvPr>
            <p:extLst>
              <p:ext uri="{D42A27DB-BD31-4B8C-83A1-F6EECF244321}">
                <p14:modId xmlns:p14="http://schemas.microsoft.com/office/powerpoint/2010/main" val="3114324869"/>
              </p:ext>
            </p:extLst>
          </p:nvPr>
        </p:nvGraphicFramePr>
        <p:xfrm>
          <a:off x="6446520" y="2697480"/>
          <a:ext cx="23774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am Building Index (TBI) centre label"/>
          <p:cNvSpPr txBox="1"/>
          <p:nvPr/>
        </p:nvSpPr>
        <p:spPr>
          <a:xfrm>
            <a:off x="6446520" y="269748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Legend swatch"/>
          <p:cNvSpPr/>
          <p:nvPr/>
        </p:nvSpPr>
        <p:spPr>
          <a:xfrm>
            <a:off x="9006840" y="2916936"/>
            <a:ext cx="182880" cy="18288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281160" y="27889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3"/>
          <p:cNvSpPr txBox="1"/>
          <p:nvPr/>
        </p:nvSpPr>
        <p:spPr>
          <a:xfrm>
            <a:off x="9966960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coverage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Legend swatch"/>
          <p:cNvSpPr/>
          <p:nvPr/>
        </p:nvSpPr>
        <p:spPr>
          <a:xfrm>
            <a:off x="9006840" y="3520440"/>
            <a:ext cx="182880" cy="182880"/>
          </a:xfrm>
          <a:prstGeom prst="rect">
            <a:avLst/>
          </a:prstGeom>
          <a:solidFill>
            <a:srgbClr val="2F7F86"/>
          </a:solidFill>
          <a:ln w="12700">
            <a:solidFill>
              <a:srgbClr val="2F7F8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281160" y="339242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6"/>
          <p:cNvSpPr txBox="1"/>
          <p:nvPr/>
        </p:nvSpPr>
        <p:spPr>
          <a:xfrm>
            <a:off x="9966960" y="339242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diversity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Legend swatch"/>
          <p:cNvSpPr/>
          <p:nvPr/>
        </p:nvSpPr>
        <p:spPr>
          <a:xfrm>
            <a:off x="9006840" y="4123944"/>
            <a:ext cx="182880" cy="182880"/>
          </a:xfrm>
          <a:prstGeom prst="rect">
            <a:avLst/>
          </a:prstGeom>
          <a:solidFill>
            <a:srgbClr val="5B6B7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281160" y="39959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9"/>
          <p:cNvSpPr txBox="1"/>
          <p:nvPr/>
        </p:nvSpPr>
        <p:spPr>
          <a:xfrm>
            <a:off x="9966960" y="39959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 mix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Legend swatch"/>
          <p:cNvSpPr/>
          <p:nvPr/>
        </p:nvSpPr>
        <p:spPr>
          <a:xfrm>
            <a:off x="9006840" y="4727448"/>
            <a:ext cx="182880" cy="182880"/>
          </a:xfrm>
          <a:prstGeom prst="rect">
            <a:avLst/>
          </a:prstGeom>
          <a:solidFill>
            <a:srgbClr val="9CC5C9"/>
          </a:solidFill>
          <a:ln w="12700">
            <a:solidFill>
              <a:srgbClr val="9CC5C9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9281160" y="459943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2"/>
          <p:cNvSpPr txBox="1"/>
          <p:nvPr/>
        </p:nvSpPr>
        <p:spPr>
          <a:xfrm>
            <a:off x="9966960" y="45994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fit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3"/>
          <p:cNvSpPr txBox="1"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Marginal skill gain </a:t>
            </a: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measures how many of the team’s missing skills a candidate would add. The TBI then rates the assembled team on four team-level factors.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NoSQL Schema Design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USERS box"/>
          <p:cNvSpPr/>
          <p:nvPr/>
        </p:nvSpPr>
        <p:spPr>
          <a:xfrm>
            <a:off x="640080" y="1508760"/>
            <a:ext cx="3017520" cy="2926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USERS header"/>
          <p:cNvSpPr/>
          <p:nvPr/>
        </p:nvSpPr>
        <p:spPr>
          <a:xfrm>
            <a:off x="640080" y="1508760"/>
            <a:ext cx="301752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68680" y="1901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468880" y="23317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68680" y="2743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68680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skills[]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68680" y="3566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roles[]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PROJECTS box"/>
          <p:cNvSpPr/>
          <p:nvPr/>
        </p:nvSpPr>
        <p:spPr>
          <a:xfrm>
            <a:off x="4572000" y="1508760"/>
            <a:ext cx="3017520" cy="2926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PROJECTS header"/>
          <p:cNvSpPr/>
          <p:nvPr/>
        </p:nvSpPr>
        <p:spPr>
          <a:xfrm>
            <a:off x="4572000" y="1508760"/>
            <a:ext cx="301752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800600" y="1901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80060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400800" y="23317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800600" y="2743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800600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800600" y="3566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800600" y="3977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ownerUID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400800" y="39776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APPLICATIONS box"/>
          <p:cNvSpPr/>
          <p:nvPr/>
        </p:nvSpPr>
        <p:spPr>
          <a:xfrm>
            <a:off x="8503920" y="1508760"/>
            <a:ext cx="3017520" cy="2926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APPLICATIONS header"/>
          <p:cNvSpPr/>
          <p:nvPr/>
        </p:nvSpPr>
        <p:spPr>
          <a:xfrm>
            <a:off x="8503920" y="1508760"/>
            <a:ext cx="3017520" cy="685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3252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732520" y="1901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Subcollection of projects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873252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userUID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0332720" y="23317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8732520" y="2743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8732520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matchScore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lationship 1"/>
          <p:cNvSpPr/>
          <p:nvPr/>
        </p:nvSpPr>
        <p:spPr>
          <a:xfrm>
            <a:off x="3703320" y="2834640"/>
            <a:ext cx="82296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3657600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365760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lationship 2"/>
          <p:cNvSpPr/>
          <p:nvPr/>
        </p:nvSpPr>
        <p:spPr>
          <a:xfrm>
            <a:off x="7635240" y="2834640"/>
            <a:ext cx="82296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7589520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758952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tat card Users"/>
          <p:cNvSpPr/>
          <p:nvPr/>
        </p:nvSpPr>
        <p:spPr>
          <a:xfrm>
            <a:off x="640080" y="4709160"/>
            <a:ext cx="3447288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4400" y="47091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500+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2468880" y="4709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tat card Projects"/>
          <p:cNvSpPr/>
          <p:nvPr/>
        </p:nvSpPr>
        <p:spPr>
          <a:xfrm>
            <a:off x="4361688" y="4709160"/>
            <a:ext cx="3447288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636008" y="47091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100+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6190488" y="4709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tat card Active teams"/>
          <p:cNvSpPr/>
          <p:nvPr/>
        </p:nvSpPr>
        <p:spPr>
          <a:xfrm>
            <a:off x="8083296" y="4709160"/>
            <a:ext cx="3447288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57616" y="47091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20+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9912096" y="4709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teams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Application Features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heck circle 1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Check 1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664208"/>
            <a:ext cx="192024" cy="1920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508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and profiles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heck circle 2"/>
          <p:cNvSpPr/>
          <p:nvPr/>
        </p:nvSpPr>
        <p:spPr>
          <a:xfrm>
            <a:off x="640080" y="21945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Check 2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304288"/>
            <a:ext cx="192024" cy="1920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148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radar visualisation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heck circle 3"/>
          <p:cNvSpPr/>
          <p:nvPr/>
        </p:nvSpPr>
        <p:spPr>
          <a:xfrm>
            <a:off x="640080" y="28346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Check 3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944368"/>
            <a:ext cx="192024" cy="19202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2788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project recommendations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heck circle 4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Check 4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584448"/>
            <a:ext cx="192024" cy="19202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3429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match scoring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heck circle 5"/>
          <p:cNvSpPr/>
          <p:nvPr/>
        </p:nvSpPr>
        <p:spPr>
          <a:xfrm>
            <a:off x="640080" y="4114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Check 5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224528"/>
            <a:ext cx="192024" cy="19202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4069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Compatibility Index (TBI)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heck circle 6"/>
          <p:cNvSpPr/>
          <p:nvPr/>
        </p:nvSpPr>
        <p:spPr>
          <a:xfrm>
            <a:off x="640080" y="47548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Check 6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864608"/>
            <a:ext cx="192024" cy="19202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80160" y="4709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management dashboard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5FC5176-916C-5982-BB29-66D2EA342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508760"/>
            <a:ext cx="6581670" cy="35970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utcome card 1"/>
          <p:cNvSpPr/>
          <p:nvPr/>
        </p:nvSpPr>
        <p:spPr>
          <a:xfrm>
            <a:off x="640080" y="1554480"/>
            <a:ext cx="2468880" cy="2377440"/>
          </a:xfrm>
          <a:prstGeom prst="roundRect">
            <a:avLst>
              <a:gd name="adj" fmla="val 384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Outcome 1 circle"/>
          <p:cNvSpPr/>
          <p:nvPr/>
        </p:nvSpPr>
        <p:spPr>
          <a:xfrm>
            <a:off x="914400" y="1783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Outcome 1 icon" descr="Outcom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77" y="1943557"/>
            <a:ext cx="273406" cy="2734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560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500+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utcome card 2"/>
          <p:cNvSpPr/>
          <p:nvPr/>
        </p:nvSpPr>
        <p:spPr>
          <a:xfrm>
            <a:off x="3447288" y="1554480"/>
            <a:ext cx="2468880" cy="2377440"/>
          </a:xfrm>
          <a:prstGeom prst="roundRect">
            <a:avLst>
              <a:gd name="adj" fmla="val 384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Outcome 2 circle"/>
          <p:cNvSpPr/>
          <p:nvPr/>
        </p:nvSpPr>
        <p:spPr>
          <a:xfrm>
            <a:off x="3721608" y="1783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Outcome 2 icon" descr="Outcom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085" y="1943557"/>
            <a:ext cx="273406" cy="2734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21608" y="2560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57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3721608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Queries implemented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utcome card 3"/>
          <p:cNvSpPr/>
          <p:nvPr/>
        </p:nvSpPr>
        <p:spPr>
          <a:xfrm>
            <a:off x="6254496" y="1554480"/>
            <a:ext cx="2468880" cy="2377440"/>
          </a:xfrm>
          <a:prstGeom prst="roundRect">
            <a:avLst>
              <a:gd name="adj" fmla="val 384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Outcome 3 circle"/>
          <p:cNvSpPr/>
          <p:nvPr/>
        </p:nvSpPr>
        <p:spPr>
          <a:xfrm>
            <a:off x="6528816" y="1783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Outcome 3 icon" descr="Outcom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9293" y="1943557"/>
            <a:ext cx="273406" cy="27340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28816" y="2560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Real-time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6528816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Firestore triggers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utcome card 4"/>
          <p:cNvSpPr/>
          <p:nvPr/>
        </p:nvSpPr>
        <p:spPr>
          <a:xfrm>
            <a:off x="9061704" y="1554480"/>
            <a:ext cx="2468880" cy="2377440"/>
          </a:xfrm>
          <a:prstGeom prst="roundRect">
            <a:avLst>
              <a:gd name="adj" fmla="val 384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Outcome 4 circle"/>
          <p:cNvSpPr/>
          <p:nvPr/>
        </p:nvSpPr>
        <p:spPr>
          <a:xfrm>
            <a:off x="9336024" y="1783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Outcome 4 icon" descr="Outcom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6501" y="1943557"/>
            <a:ext cx="273406" cy="27340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36024" y="2560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Serverless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9336024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Functions logic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109728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chemeClr val="bg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“Transforming team formation from guesswork to data science”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5C9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er Team Matcher">
  <a:themeElements>
    <a:clrScheme name="Peer Team Matcher">
      <a:dk1>
        <a:srgbClr val="1B2A41"/>
      </a:dk1>
      <a:lt1>
        <a:srgbClr val="FFFFFF"/>
      </a:lt1>
      <a:dk2>
        <a:srgbClr val="2F7F86"/>
      </a:dk2>
      <a:lt2>
        <a:srgbClr val="F1F4F7"/>
      </a:lt2>
      <a:accent1>
        <a:srgbClr val="2F7F86"/>
      </a:accent1>
      <a:accent2>
        <a:srgbClr val="1B2A41"/>
      </a:accent2>
      <a:accent3>
        <a:srgbClr val="9CC5C9"/>
      </a:accent3>
      <a:accent4>
        <a:srgbClr val="C9D1DA"/>
      </a:accent4>
      <a:accent5>
        <a:srgbClr val="5B6B7F"/>
      </a:accent5>
      <a:accent6>
        <a:srgbClr val="26364F"/>
      </a:accent6>
      <a:hlink>
        <a:srgbClr val="2F7F86"/>
      </a:hlink>
      <a:folHlink>
        <a:srgbClr val="5B6B7F"/>
      </a:folHlink>
    </a:clrScheme>
    <a:fontScheme name="Peer Team Match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894</Words>
  <Application>Microsoft Office PowerPoint</Application>
  <PresentationFormat>Widescreen</PresentationFormat>
  <Paragraphs>163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Peer Team Matcher</vt:lpstr>
      <vt:lpstr>Peer Project Team Formation &amp; Skill-Gap Matcher</vt:lpstr>
      <vt:lpstr>The Challenge</vt:lpstr>
      <vt:lpstr>What Existing Solutions Miss</vt:lpstr>
      <vt:lpstr>A Smart Team Matching Engine</vt:lpstr>
      <vt:lpstr>Architecture &amp; Technologies</vt:lpstr>
      <vt:lpstr>Intelligent Scoring Model</vt:lpstr>
      <vt:lpstr>NoSQL Schema Design</vt:lpstr>
      <vt:lpstr>Live Application Features</vt:lpstr>
      <vt:lpstr>Project Outcomes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Peer Project Team Formation &amp; Skill-Gap Matcher</dc:title>
  <dc:subject>PptxGenJS Presentation</dc:subject>
  <dc:creator>M.Tech Data Modelling Project</dc:creator>
  <cp:lastModifiedBy>Pavithra Sevakula</cp:lastModifiedBy>
  <cp:revision>3</cp:revision>
  <dcterms:created xsi:type="dcterms:W3CDTF">2026-10-11T18:00:30Z</dcterms:created>
  <dcterms:modified xsi:type="dcterms:W3CDTF">2026-10-11T18:52:16Z</dcterms:modified>
</cp:coreProperties>
</file>